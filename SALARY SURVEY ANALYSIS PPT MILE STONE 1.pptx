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9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C9ECBE-66F0-44A7-AC06-CC5F344A18B1}" v="37" dt="2026-01-12T10:29:06.1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9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4599-B4F3-4565-963B-91B0C2A2C66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16DA-05C0-4F3E-AF0F-DFB1DE86E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072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4599-B4F3-4565-963B-91B0C2A2C66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16DA-05C0-4F3E-AF0F-DFB1DE86E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69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4599-B4F3-4565-963B-91B0C2A2C66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16DA-05C0-4F3E-AF0F-DFB1DE86E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48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4599-B4F3-4565-963B-91B0C2A2C66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16DA-05C0-4F3E-AF0F-DFB1DE86E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421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4599-B4F3-4565-963B-91B0C2A2C66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16DA-05C0-4F3E-AF0F-DFB1DE86E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79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4599-B4F3-4565-963B-91B0C2A2C66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16DA-05C0-4F3E-AF0F-DFB1DE86E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351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4599-B4F3-4565-963B-91B0C2A2C66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16DA-05C0-4F3E-AF0F-DFB1DE86E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729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4599-B4F3-4565-963B-91B0C2A2C66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16DA-05C0-4F3E-AF0F-DFB1DE86E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390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4599-B4F3-4565-963B-91B0C2A2C66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16DA-05C0-4F3E-AF0F-DFB1DE86E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706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4599-B4F3-4565-963B-91B0C2A2C66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16DA-05C0-4F3E-AF0F-DFB1DE86E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989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4599-B4F3-4565-963B-91B0C2A2C66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16DA-05C0-4F3E-AF0F-DFB1DE86E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707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4599-B4F3-4565-963B-91B0C2A2C66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16DA-05C0-4F3E-AF0F-DFB1DE86EE8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4942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4599-B4F3-4565-963B-91B0C2A2C66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16DA-05C0-4F3E-AF0F-DFB1DE86E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854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4599-B4F3-4565-963B-91B0C2A2C66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16DA-05C0-4F3E-AF0F-DFB1DE86E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365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4599-B4F3-4565-963B-91B0C2A2C66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16DA-05C0-4F3E-AF0F-DFB1DE86E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764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4599-B4F3-4565-963B-91B0C2A2C66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16DA-05C0-4F3E-AF0F-DFB1DE86E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4689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4599-B4F3-4565-963B-91B0C2A2C66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D16DA-05C0-4F3E-AF0F-DFB1DE86E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227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B0B4599-B4F3-4565-963B-91B0C2A2C66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D5D16DA-05C0-4F3E-AF0F-DFB1DE86E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4182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0" r:id="rId1"/>
    <p:sldLayoutId id="2147483951" r:id="rId2"/>
    <p:sldLayoutId id="2147483952" r:id="rId3"/>
    <p:sldLayoutId id="2147483953" r:id="rId4"/>
    <p:sldLayoutId id="2147483954" r:id="rId5"/>
    <p:sldLayoutId id="2147483955" r:id="rId6"/>
    <p:sldLayoutId id="2147483956" r:id="rId7"/>
    <p:sldLayoutId id="2147483957" r:id="rId8"/>
    <p:sldLayoutId id="2147483958" r:id="rId9"/>
    <p:sldLayoutId id="2147483959" r:id="rId10"/>
    <p:sldLayoutId id="2147483960" r:id="rId11"/>
    <p:sldLayoutId id="2147483961" r:id="rId12"/>
    <p:sldLayoutId id="2147483962" r:id="rId13"/>
    <p:sldLayoutId id="2147483963" r:id="rId14"/>
    <p:sldLayoutId id="2147483964" r:id="rId15"/>
    <p:sldLayoutId id="2147483965" r:id="rId16"/>
    <p:sldLayoutId id="214748396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1976D-47EC-FFCE-F927-182F3FE7C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7889" y="-1131276"/>
            <a:ext cx="8676222" cy="320040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SURVEY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B9D121-C35A-F3B2-E73E-64D2D58D9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56233" y="4453625"/>
            <a:ext cx="8972115" cy="2404375"/>
          </a:xfrm>
        </p:spPr>
        <p:txBody>
          <a:bodyPr>
            <a:normAutofit/>
          </a:bodyPr>
          <a:lstStyle/>
          <a:p>
            <a:pPr algn="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ARUNKUMAR A</a:t>
            </a:r>
          </a:p>
          <a:p>
            <a:pPr algn="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DA&amp;DS AUGUST  B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544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CC7FE-5CDC-3705-3C49-75CBA99E2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7811"/>
            <a:ext cx="10353762" cy="86900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lgerian" panose="04020705040A02060702" pitchFamily="82" charset="0"/>
              </a:rPr>
              <a:t>DESCRITION</a:t>
            </a:r>
            <a:endParaRPr lang="en-IN" sz="36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874C1-C342-F30C-CB75-FC7FAAE66C4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9981" y="958362"/>
            <a:ext cx="10772038" cy="461018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/>
              <a:t>The Dataset Consists 28100 Rows &amp; 14 Columns. Age range, Industry, Job Title, Annual Salary, Additional Monetary Compensation , City, currency, Country, State, Years of Professional Experience Overall, Years of Professional Experience in Field, Highest Level of Education Completed, Gender.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Analytical tools such as MySQL Workbench and Excel Power Pivot were used to explore the dataset and create visual dashboards. These dashboards highlight salary trends, industry-wise pay differences, the impact of education and experience on earnings, and gender-based salary variations.</a:t>
            </a:r>
            <a:endParaRPr lang="en-IN" sz="2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1B8D800-097E-D6E7-A8EC-88BF4845201D}"/>
              </a:ext>
            </a:extLst>
          </p:cNvPr>
          <p:cNvSpPr txBox="1">
            <a:spLocks/>
          </p:cNvSpPr>
          <p:nvPr/>
        </p:nvSpPr>
        <p:spPr>
          <a:xfrm>
            <a:off x="6585212" y="27811"/>
            <a:ext cx="4155209" cy="7767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IN" sz="2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D59E20-AA0A-F4A6-E177-9660C8CDFA9E}"/>
              </a:ext>
            </a:extLst>
          </p:cNvPr>
          <p:cNvSpPr txBox="1">
            <a:spLocks/>
          </p:cNvSpPr>
          <p:nvPr/>
        </p:nvSpPr>
        <p:spPr>
          <a:xfrm>
            <a:off x="593486" y="3682906"/>
            <a:ext cx="4155209" cy="7767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5759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C18CA-ABAA-8C98-9E74-F37A64F07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118" y="0"/>
            <a:ext cx="10353762" cy="97045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lgerian" panose="04020705040A02060702" pitchFamily="82" charset="0"/>
              </a:rPr>
              <a:t>DATA CLEANING</a:t>
            </a:r>
            <a:endParaRPr lang="en-IN" sz="36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57149-A439-A524-A580-4BA84D72E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120" y="682883"/>
            <a:ext cx="8828082" cy="3252789"/>
          </a:xfrm>
        </p:spPr>
        <p:txBody>
          <a:bodyPr>
            <a:normAutofit/>
          </a:bodyPr>
          <a:lstStyle/>
          <a:p>
            <a:r>
              <a:rPr lang="en-US" sz="1600" b="1" dirty="0"/>
              <a:t>Data Cleaning Process</a:t>
            </a:r>
          </a:p>
          <a:p>
            <a:r>
              <a:rPr lang="en-US" sz="1600" dirty="0"/>
              <a:t>Raw dataset contained missing, inconsistent, and duplicate records</a:t>
            </a:r>
          </a:p>
          <a:p>
            <a:r>
              <a:rPr lang="en-US" sz="1600" dirty="0"/>
              <a:t>Checked all columns for </a:t>
            </a:r>
            <a:r>
              <a:rPr lang="en-US" sz="1600" b="1" dirty="0"/>
              <a:t>null and blank values</a:t>
            </a:r>
            <a:endParaRPr lang="en-US" sz="1600" dirty="0"/>
          </a:p>
          <a:p>
            <a:r>
              <a:rPr lang="en-US" sz="1600" dirty="0"/>
              <a:t>Removed </a:t>
            </a:r>
            <a:r>
              <a:rPr lang="en-US" sz="1600" b="1" dirty="0"/>
              <a:t>duplicate rows</a:t>
            </a:r>
            <a:r>
              <a:rPr lang="en-US" sz="1600" dirty="0"/>
              <a:t> to avoid biased analysis</a:t>
            </a:r>
          </a:p>
          <a:p>
            <a:r>
              <a:rPr lang="en-US" sz="1600" dirty="0"/>
              <a:t>Standardized text fields such as </a:t>
            </a:r>
            <a:r>
              <a:rPr lang="en-US" sz="1600" b="1" dirty="0"/>
              <a:t>Industry, Job Title, Country, and Gender</a:t>
            </a:r>
            <a:endParaRPr lang="en-US" sz="1600" dirty="0"/>
          </a:p>
          <a:p>
            <a:r>
              <a:rPr lang="en-US" sz="1600" dirty="0"/>
              <a:t>Corrected inconsistent naming formats (e.g., abbreviations, spelling issues)</a:t>
            </a:r>
          </a:p>
          <a:p>
            <a:r>
              <a:rPr lang="en-US" sz="1600" dirty="0"/>
              <a:t>Converted salary fields to a </a:t>
            </a:r>
            <a:r>
              <a:rPr lang="en-US" sz="1600" b="1" dirty="0"/>
              <a:t>uniform numeric format</a:t>
            </a:r>
            <a:endParaRPr lang="en-US" sz="1600" dirty="0"/>
          </a:p>
          <a:p>
            <a:r>
              <a:rPr lang="en-US" sz="1600" dirty="0"/>
              <a:t>Ensured correct data types for age, salary, and experience columns</a:t>
            </a:r>
          </a:p>
          <a:p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6985F0-1390-B33E-7B7F-20551C8E9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746" y="3694983"/>
            <a:ext cx="3604846" cy="27409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F8BFB9-1B58-E4B1-DE1A-10BDDC5ED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238" y="3657968"/>
            <a:ext cx="3604846" cy="277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15C0C6D-A5F1-638E-35E6-7FB248146EB2}"/>
              </a:ext>
            </a:extLst>
          </p:cNvPr>
          <p:cNvSpPr/>
          <p:nvPr/>
        </p:nvSpPr>
        <p:spPr>
          <a:xfrm>
            <a:off x="1916723" y="6435968"/>
            <a:ext cx="2329962" cy="3253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RAW DATA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1D413E-90FB-CCF2-DFA0-AC50A1091904}"/>
              </a:ext>
            </a:extLst>
          </p:cNvPr>
          <p:cNvSpPr/>
          <p:nvPr/>
        </p:nvSpPr>
        <p:spPr>
          <a:xfrm>
            <a:off x="7473462" y="6435968"/>
            <a:ext cx="2507341" cy="4220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CLEANED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1557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80FC0-A84B-0E48-9BC0-D51CDBD72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249" y="117816"/>
            <a:ext cx="10353762" cy="97045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DATABASE CREATION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FCDC13-2F22-1889-26AF-557E4E041A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6469" y="1510854"/>
            <a:ext cx="1074042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 is used to create and manage databases efficiently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DATABASE command is used to create a new database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SALARY_SURVEY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selects the database for operations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defines tables with columns and data types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Constraints ensure data accuracy and integrity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Organizes data in a structured format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data redundancy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easy data storage, retrieval, and management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real-world applications like banking, education, and 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499614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76BB0-0C73-9D81-FB31-2ACD528E9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7045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MYSQL- WORK- BENCH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CC2AD-B279-121E-5321-7F7643CDE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5203" y="1066164"/>
            <a:ext cx="9310206" cy="90331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 a MYSQL WORK BENCH the queries were written and the new data board creation to view multiple factor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1CCB12-C4A2-BECE-8A22-DEE013537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93" y="2293468"/>
            <a:ext cx="5020408" cy="35094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DB740F-48C4-308E-365F-ADCE8CCE1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854" y="2247514"/>
            <a:ext cx="5020408" cy="357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625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A883B-363D-4D55-A9F4-E16E9BAB6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0"/>
            <a:ext cx="9603275" cy="104923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Pivot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13112C-7FDF-310C-EA36-36D812D76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95" y="1657234"/>
            <a:ext cx="10297807" cy="437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130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5B6B8-5B39-28B4-DC18-4CAAB6830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7045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96FE19-F081-F5CE-AC3E-D661B4968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223" y="1090293"/>
            <a:ext cx="6854188" cy="56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239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96019-C258-451D-8A78-1D5BCC01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940" y="388854"/>
            <a:ext cx="11012612" cy="543834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F5BF09-68C8-8884-0AB0-3B7676399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714" y="1383846"/>
            <a:ext cx="1069257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Salary levels vary significantly based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role, industry, and experience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showing that skill specialization strongly impacts earnings.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Managerial and research-oriented roles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receive higher compensation compared to entry-level or support roles.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Professionals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educational qualifications (PhD / Professional degrees)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tend to earn more than those with basic degrees.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Technology, Media &amp; Digital, Utilities, and Telecom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sectors are among the highest-paying industries.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Salary differences are observed across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gender categories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the need for fair and inclusive compensation policies</a:t>
            </a:r>
          </a:p>
        </p:txBody>
      </p:sp>
    </p:spTree>
    <p:extLst>
      <p:ext uri="{BB962C8B-B14F-4D97-AF65-F5344CB8AC3E}">
        <p14:creationId xmlns:p14="http://schemas.microsoft.com/office/powerpoint/2010/main" val="2107546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A8CE-7B1B-3AA9-05BB-34A10C39C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7FD1A-B2BB-8D79-A09C-B42475155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&amp; SQL effectively analyze and visualize salary data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insights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workforce planning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salary trends across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industry, role, gender, education, and location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organizations ensure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fair, competitive, and data-driven compensation practices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72700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180</TotalTime>
  <Words>426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Algerian</vt:lpstr>
      <vt:lpstr>Arial</vt:lpstr>
      <vt:lpstr>Calisto MT</vt:lpstr>
      <vt:lpstr>Times New Roman</vt:lpstr>
      <vt:lpstr>Wingdings 2</vt:lpstr>
      <vt:lpstr>Slate</vt:lpstr>
      <vt:lpstr>SALARY SURVEY ANALYSIS</vt:lpstr>
      <vt:lpstr>DESCRITION</vt:lpstr>
      <vt:lpstr>DATA CLEANING</vt:lpstr>
      <vt:lpstr>SQL DATABASE CREATION</vt:lpstr>
      <vt:lpstr>MYSQL- WORK- BENCH</vt:lpstr>
      <vt:lpstr>Power Pivot</vt:lpstr>
      <vt:lpstr>DASHBOARD</vt:lpstr>
      <vt:lpstr>OVERVIEW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Kalvin Jayaprakash J</dc:creator>
  <cp:lastModifiedBy>Arunkumar A</cp:lastModifiedBy>
  <cp:revision>3</cp:revision>
  <dcterms:created xsi:type="dcterms:W3CDTF">2026-01-09T03:09:59Z</dcterms:created>
  <dcterms:modified xsi:type="dcterms:W3CDTF">2026-01-17T03:56:26Z</dcterms:modified>
</cp:coreProperties>
</file>